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</p:sldIdLst>
  <p:sldSz cx="12191695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4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-365760"/>
            <a:ext cx="4754880" cy="7589520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040880" cy="1417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INTELIGÊNCIA ARTIFICIAL</a:t>
            </a:r>
            <a:br/>
            <a:r>
              <a:t>DE BAIXO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22576"/>
            <a:ext cx="685800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0">
                <a:solidFill>
                  <a:srgbClr val="E0F0F2"/>
                </a:solidFill>
                <a:latin typeface="Aptos"/>
              </a:defRPr>
            </a:pPr>
            <a:r>
              <a:t>para o monitoramento preventivo do bem-estar estudantil em escolas públicas de baixa conectividade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767328"/>
            <a:ext cx="1143000" cy="82296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005072"/>
            <a:ext cx="6217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Programa Escola Presente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727448"/>
            <a:ext cx="6492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Ivo Calado · Rafael Durelli · Diego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148072"/>
            <a:ext cx="6675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DFD8E9"/>
                </a:solidFill>
                <a:latin typeface="Aptos"/>
              </a:defRPr>
            </a:pPr>
            <a:r>
              <a:t>Especialização em Gestão de Políticas Públicas Educacionais e Transformação Digital · UFAL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874519"/>
            <a:ext cx="2286000" cy="1554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TCC</a:t>
            </a:r>
            <a:br/>
            <a:r>
              <a:t>PROJETO</a:t>
            </a:r>
            <a:br/>
            <a:r>
              <a:t>INTEGRADO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O problema: sofrimento pouco visível e resposta desigual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A necessidade existe; a capacidade de identificar e acolher não está igualmente distribuída.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45920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3D205B"/>
                </a:solidFill>
                <a:latin typeface="Aptos"/>
              </a:defRPr>
            </a:pPr>
            <a:r>
              <a:t>1 em cada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3044952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0">
                <a:solidFill>
                  <a:srgbClr val="2A2A34"/>
                </a:solidFill>
                <a:latin typeface="Aptos"/>
              </a:defRPr>
            </a:pPr>
            <a:r>
              <a:t>adolescentes de 10 a 19 anos vive com alguma condição de saúde mental no mundo.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81328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481328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50% /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084832"/>
            <a:ext cx="3044952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2A2A34"/>
                </a:solidFill>
                <a:latin typeface="Aptos"/>
              </a:defRPr>
            </a:pPr>
            <a:r>
              <a:t>metade dos jovens ouvidos pelo UNICEF sentiu necessidade de ajuda; 40% deles não procurou ninguém.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81328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1481328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45920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96% ≠ acesso efetivo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084832"/>
            <a:ext cx="3044952" cy="2587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2A2A34"/>
                </a:solidFill>
                <a:latin typeface="Aptos"/>
              </a:defRPr>
            </a:pPr>
            <a:r>
              <a:t>internet chegou às escolas, mas dispositivos e conexão para muitos acessos ainda são desiguais.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5266944"/>
            <a:ext cx="9372600" cy="676656"/>
          </a:xfrm>
          <a:prstGeom prst="roundRect">
            <a:avLst>
              <a:gd name="adj" fmla="val 12000"/>
            </a:avLst>
          </a:prstGeom>
          <a:solidFill>
            <a:srgbClr val="F2EDF7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5431536"/>
            <a:ext cx="8869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3D205B"/>
                </a:solidFill>
                <a:latin typeface="Aptos"/>
              </a:defRPr>
            </a:pPr>
            <a:r>
              <a:t>Dupla exclusão: menos apoio presencial + soluções digitais que dependem da nuvem.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153912"/>
            <a:ext cx="6766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F5F6E"/>
                </a:solidFill>
                <a:latin typeface="Aptos"/>
              </a:defRPr>
            </a:pPr>
            <a:r>
              <a:t>Fontes: OMS (2025); UNICEF (2022); TIC Educação (2024).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Pergunta orientadora e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O desenho combina política pública, tecnologia apropriada e salvaguardas.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44200" cy="1444752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00784"/>
            <a:ext cx="10058400" cy="8046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Como apoiar o monitoramento preventivo do bem-estar sem ampliar desigualdades, estigma, carga de trabalho ou riscos à privacidade?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1012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3310128"/>
            <a:ext cx="73152" cy="1920240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684197"/>
                </a:solidFill>
                <a:latin typeface="Aptos"/>
              </a:defRPr>
            </a:pPr>
            <a:r>
              <a:t>DIAGNOSTICAR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13632"/>
            <a:ext cx="2862072" cy="11704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2A2A34"/>
                </a:solidFill>
                <a:latin typeface="Aptos"/>
              </a:defRPr>
            </a:pPr>
            <a:r>
              <a:t>necessidades, infraestrutura e capacidade real da rede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331012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3310128"/>
            <a:ext cx="73152" cy="1920240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347472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DESENHAR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913632"/>
            <a:ext cx="2862072" cy="11704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2A2A34"/>
                </a:solidFill>
                <a:latin typeface="Aptos"/>
              </a:defRPr>
            </a:pPr>
            <a:r>
              <a:t>protocolo + aplicativo offline-first + revisão humana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31012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3310128"/>
            <a:ext cx="73152" cy="1920240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47472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AVALIAR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913632"/>
            <a:ext cx="2862072" cy="11704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2A2A34"/>
                </a:solidFill>
                <a:latin typeface="Aptos"/>
              </a:defRPr>
            </a:pPr>
            <a:r>
              <a:t>segurança, equidade, confiança, carga e resultados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632704"/>
            <a:ext cx="10241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3D205B"/>
                </a:solidFill>
                <a:latin typeface="Aptos"/>
              </a:defRPr>
            </a:pPr>
            <a:r>
              <a:t>Objetivo geral: estruturar uma política e um protocolo técnico-operacional replicável.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A solução: Programa Escola Presente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Um pacote técnico-educacional; a tecnologia é apenas uma de suas camadas.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3456432" cy="43159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89888"/>
            <a:ext cx="73152" cy="4315968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09067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3D205B"/>
                </a:solidFill>
                <a:latin typeface="Aptos"/>
              </a:defRPr>
            </a:pPr>
            <a:r>
              <a:t>PROTOCOLO DE CUIDADO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3072384" cy="3566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• escuta não julgadora</a:t>
            </a:r>
            <a:br/>
            <a:r>
              <a:t>• triagem e revisão humana</a:t>
            </a:r>
            <a:br/>
            <a:r>
              <a:t>• referência e contrarreferência</a:t>
            </a:r>
            <a:br/>
            <a:r>
              <a:t>• formação das equipes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89888"/>
            <a:ext cx="3456432" cy="43159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389888"/>
            <a:ext cx="73152" cy="4315968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554480"/>
            <a:ext cx="309067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APLICATIVO OFFLINE-FIRST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993392"/>
            <a:ext cx="3072384" cy="3566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• EDAE-A/DASS-21</a:t>
            </a:r>
            <a:br/>
            <a:r>
              <a:t>• processamento local</a:t>
            </a:r>
            <a:br/>
            <a:r>
              <a:t>• TinyML leve</a:t>
            </a:r>
            <a:br/>
            <a:r>
              <a:t>• alternativa em papel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89888"/>
            <a:ext cx="3456432" cy="43159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1389888"/>
            <a:ext cx="73152" cy="4315968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54480"/>
            <a:ext cx="309067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GOVERNANÇA E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93392"/>
            <a:ext cx="3072384" cy="3566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• dados mínimos e cifrados</a:t>
            </a:r>
            <a:br/>
            <a:r>
              <a:t>• painéis agregados</a:t>
            </a:r>
            <a:br/>
            <a:r>
              <a:t>• auditoria e contestação</a:t>
            </a:r>
            <a:br/>
            <a:r>
              <a:t>• critérios de suspensão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989320"/>
            <a:ext cx="102412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BE4146"/>
                </a:solidFill>
                <a:latin typeface="Aptos"/>
              </a:defRPr>
            </a:pPr>
            <a:r>
              <a:t>Não diagnostica · não prescreve · não substitui profissionais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Como funciona: do convite ao cuidado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O algoritmo recomenda prioridade; pessoas decidem e acolhem.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901952" cy="24871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5295" y="1517904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1609344"/>
            <a:ext cx="5852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5727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3D205B"/>
                </a:solidFill>
                <a:latin typeface="Aptos"/>
              </a:defRPr>
            </a:pPr>
            <a:r>
              <a:t>ESCUTA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572768" cy="10241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21 itens + pedido direto de ajuda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87168" y="3054096"/>
            <a:ext cx="301752" cy="0"/>
          </a:xfrm>
          <a:prstGeom prst="line">
            <a:avLst/>
          </a:prstGeom>
          <a:ln w="2286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71216" y="1874519"/>
            <a:ext cx="1901952" cy="24871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1517904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609344"/>
            <a:ext cx="5852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331720"/>
            <a:ext cx="15727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684197"/>
                </a:solidFill>
                <a:latin typeface="Aptos"/>
              </a:defRPr>
            </a:pPr>
            <a:r>
              <a:t>PROCESSAMENTO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852928"/>
            <a:ext cx="1572768" cy="10241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pontuação e TinyML no aparelho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91456" y="3054096"/>
            <a:ext cx="301752" cy="0"/>
          </a:xfrm>
          <a:prstGeom prst="line">
            <a:avLst/>
          </a:prstGeom>
          <a:ln w="2286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4" y="1874519"/>
            <a:ext cx="1901952" cy="24871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33872" y="1517904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1609344"/>
            <a:ext cx="5852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331720"/>
            <a:ext cx="15727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5ADBA"/>
                </a:solidFill>
                <a:latin typeface="Aptos"/>
              </a:defRPr>
            </a:pPr>
            <a:r>
              <a:t>PRIORIDADE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852928"/>
            <a:ext cx="1572768" cy="10241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faixa auxiliar e fila protegida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95744" y="3054096"/>
            <a:ext cx="301752" cy="0"/>
          </a:xfrm>
          <a:prstGeom prst="line">
            <a:avLst/>
          </a:prstGeom>
          <a:ln w="2286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79792" y="1874519"/>
            <a:ext cx="1901952" cy="24871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517904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107E89"/>
          </a:solidFill>
          <a:ln>
            <a:solidFill>
              <a:srgbClr val="1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609344"/>
            <a:ext cx="5852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2331720"/>
            <a:ext cx="15727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07E89"/>
                </a:solidFill>
                <a:latin typeface="Aptos"/>
              </a:defRPr>
            </a:pPr>
            <a:r>
              <a:t>REVISÃO HUMANA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2852928"/>
            <a:ext cx="1572768" cy="10241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acolhimento e decisão profissional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0032" y="3054096"/>
            <a:ext cx="301752" cy="0"/>
          </a:xfrm>
          <a:prstGeom prst="line">
            <a:avLst/>
          </a:prstGeom>
          <a:ln w="2286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84080" y="1874519"/>
            <a:ext cx="1901952" cy="248716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42448" y="1517904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2448" y="1609344"/>
            <a:ext cx="5852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331720"/>
            <a:ext cx="157276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88443"/>
                </a:solidFill>
                <a:latin typeface="Aptos"/>
              </a:defRPr>
            </a:pPr>
            <a:r>
              <a:t>REDE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2852928"/>
            <a:ext cx="1572768" cy="10241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encaminhamento e retorno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4919472"/>
            <a:ext cx="10287000" cy="804672"/>
          </a:xfrm>
          <a:prstGeom prst="roundRect">
            <a:avLst>
              <a:gd name="adj" fmla="val 12000"/>
            </a:avLst>
          </a:prstGeom>
          <a:solidFill>
            <a:srgbClr val="EEF8F9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5296" y="5148072"/>
            <a:ext cx="97383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107E89"/>
                </a:solidFill>
                <a:latin typeface="Aptos"/>
              </a:defRPr>
            </a:pPr>
            <a:r>
              <a:t>Proteção imediata: diante de situação grave, aciona-se o protocolo humano — nunca se espera o algoritmo.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Arquitetura orientada à privacidade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Processar localmente reduz dependência de conexão e exposição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3657600" cy="4462272"/>
          </a:xfrm>
          <a:prstGeom prst="roundRect">
            <a:avLst>
              <a:gd name="adj" fmla="val 12000"/>
            </a:avLst>
          </a:prstGeom>
          <a:solidFill>
            <a:srgbClr val="F1EEF6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3D205B"/>
                </a:solidFill>
                <a:latin typeface="Aptos"/>
              </a:defRPr>
            </a:pPr>
            <a:r>
              <a:t>NO DISPOSITIVO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331720"/>
            <a:ext cx="27614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487168"/>
            <a:ext cx="252374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2A2A34"/>
                </a:solidFill>
                <a:latin typeface="Aptos"/>
              </a:defRPr>
            </a:pPr>
            <a:r>
              <a:t>respostas individuais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72968"/>
            <a:ext cx="27614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28416"/>
            <a:ext cx="252374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A2A34"/>
                </a:solidFill>
                <a:latin typeface="Aptos"/>
              </a:defRPr>
            </a:pPr>
            <a:r>
              <a:t>pontuação / inferência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4215"/>
            <a:ext cx="276148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169664"/>
            <a:ext cx="252374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2A2A34"/>
                </a:solidFill>
                <a:latin typeface="Aptos"/>
              </a:defRPr>
            </a:pPr>
            <a:r>
              <a:t>fila restrita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074920"/>
            <a:ext cx="30540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F5F6E"/>
                </a:solidFill>
                <a:latin typeface="Aptos"/>
              </a:defRPr>
            </a:pPr>
            <a:r>
              <a:t>cifrado · acesso por função · retenção mínima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7720" y="3447288"/>
            <a:ext cx="978408" cy="0"/>
          </a:xfrm>
          <a:prstGeom prst="line">
            <a:avLst/>
          </a:prstGeom>
          <a:ln w="38100">
            <a:solidFill>
              <a:srgbClr val="15A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4840" y="3017520"/>
            <a:ext cx="135331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0">
                <a:solidFill>
                  <a:srgbClr val="5F5F6E"/>
                </a:solidFill>
                <a:latin typeface="Aptos"/>
              </a:defRPr>
            </a:pPr>
            <a:r>
              <a:t>quando necessário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7296" y="1417320"/>
            <a:ext cx="5440680" cy="4462272"/>
          </a:xfrm>
          <a:prstGeom prst="roundRect">
            <a:avLst>
              <a:gd name="adj" fmla="val 12000"/>
            </a:avLst>
          </a:prstGeom>
          <a:solidFill>
            <a:srgbClr val="EEF8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1737360"/>
            <a:ext cx="4709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07E89"/>
                </a:solidFill>
                <a:latin typeface="Aptos"/>
              </a:defRPr>
            </a:pPr>
            <a:r>
              <a:t>PARA A GESTÃO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50592"/>
            <a:ext cx="4133087" cy="1417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600" b="1">
                <a:solidFill>
                  <a:srgbClr val="107E89"/>
                </a:solidFill>
                <a:latin typeface="Aptos"/>
              </a:defRPr>
            </a:pPr>
            <a:r>
              <a:t>INDICADORES</a:t>
            </a:r>
            <a:br/>
            <a:r>
              <a:t>AGREGADOS E</a:t>
            </a:r>
            <a:br/>
            <a:r>
              <a:t>ANONIMIZADOS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352544"/>
            <a:ext cx="4434840" cy="6949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2A2A34"/>
                </a:solidFill>
                <a:latin typeface="Aptos"/>
              </a:defRPr>
            </a:pPr>
            <a:r>
              <a:t>Sem nomes · sem respostas individuais</a:t>
            </a:r>
            <a:br/>
            <a:r>
              <a:t>sem uso punitivo, nota, seleção ou publicidade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99048"/>
            <a:ext cx="8138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3D205B"/>
                </a:solidFill>
                <a:latin typeface="Aptos"/>
              </a:defRPr>
            </a:pPr>
            <a:r>
              <a:t>LGPD + proteção integral + supervisão humana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Implementação em ondas: testar antes de escalar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Piloto proposto em aproximadamente 100 escolas do Norte e Nordeste.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1993392" cy="24231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1993392" cy="530352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18105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PREPARAR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60904"/>
            <a:ext cx="170078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3D205B"/>
                </a:solidFill>
                <a:latin typeface="Aptos"/>
              </a:defRPr>
            </a:pPr>
            <a:r>
              <a:t>Meses 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1664208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rede, RIPD, cocriação, protótipo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3108960"/>
            <a:ext cx="265176" cy="0"/>
          </a:xfrm>
          <a:prstGeom prst="line">
            <a:avLst/>
          </a:prstGeom>
          <a:ln w="2032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2072" y="1901952"/>
            <a:ext cx="1993392" cy="24231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62072" y="1901952"/>
            <a:ext cx="1993392" cy="530352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020824"/>
            <a:ext cx="18105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FORMAR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660904"/>
            <a:ext cx="170078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684197"/>
                </a:solidFill>
                <a:latin typeface="Aptos"/>
              </a:defRPr>
            </a:pPr>
            <a:r>
              <a:t>Meses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127248"/>
            <a:ext cx="1664208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equipes e simulação dos fluxos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108960"/>
            <a:ext cx="265176" cy="0"/>
          </a:xfrm>
          <a:prstGeom prst="line">
            <a:avLst/>
          </a:prstGeom>
          <a:ln w="2032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3" y="1901952"/>
            <a:ext cx="1993392" cy="24231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75503" y="1901952"/>
            <a:ext cx="1993392" cy="530352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3" y="2020824"/>
            <a:ext cx="18105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TESTAR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2660904"/>
            <a:ext cx="170078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5ADBA"/>
                </a:solidFill>
                <a:latin typeface="Aptos"/>
              </a:defRPr>
            </a:pPr>
            <a:r>
              <a:t>Meses 6–8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5" y="3127248"/>
            <a:ext cx="1664208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fluxo sem IA + modelo silencioso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68896" y="3108960"/>
            <a:ext cx="265175" cy="0"/>
          </a:xfrm>
          <a:prstGeom prst="line">
            <a:avLst/>
          </a:prstGeom>
          <a:ln w="2032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88936" y="1901952"/>
            <a:ext cx="1993392" cy="24231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88936" y="1901952"/>
            <a:ext cx="1993392" cy="530352"/>
          </a:xfrm>
          <a:prstGeom prst="roundRect">
            <a:avLst>
              <a:gd name="adj" fmla="val 12000"/>
            </a:avLst>
          </a:prstGeom>
          <a:solidFill>
            <a:srgbClr val="107E89"/>
          </a:solidFill>
          <a:ln>
            <a:solidFill>
              <a:srgbClr val="1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5" y="2020824"/>
            <a:ext cx="18105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PILOTAR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660904"/>
            <a:ext cx="170078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07E89"/>
                </a:solidFill>
                <a:latin typeface="Aptos"/>
              </a:defRPr>
            </a:pPr>
            <a:r>
              <a:t>Meses 9–12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3127248"/>
            <a:ext cx="1664208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uso assistido e expansão gradual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3108960"/>
            <a:ext cx="265176" cy="0"/>
          </a:xfrm>
          <a:prstGeom prst="line">
            <a:avLst/>
          </a:prstGeom>
          <a:ln w="20320">
            <a:solidFill>
              <a:srgbClr val="5F5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7" y="1901952"/>
            <a:ext cx="1993392" cy="242316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802367" y="1901952"/>
            <a:ext cx="1993392" cy="530352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2020824"/>
            <a:ext cx="18105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AVALIAR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660904"/>
            <a:ext cx="170078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E88443"/>
                </a:solidFill>
                <a:latin typeface="Aptos"/>
              </a:defRPr>
            </a:pPr>
            <a:r>
              <a:t>Meses 13–18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3127248"/>
            <a:ext cx="1664208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2A2A34"/>
                </a:solidFill>
                <a:latin typeface="Aptos"/>
              </a:defRPr>
            </a:pPr>
            <a:r>
              <a:t>correções, relatório e decisão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919472"/>
            <a:ext cx="9985248" cy="777240"/>
          </a:xfrm>
          <a:prstGeom prst="roundRect">
            <a:avLst>
              <a:gd name="adj" fmla="val 12000"/>
            </a:avLst>
          </a:prstGeom>
          <a:solidFill>
            <a:srgbClr val="FAF2EB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138928"/>
            <a:ext cx="94366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E88443"/>
                </a:solidFill>
                <a:latin typeface="Aptos"/>
              </a:defRPr>
            </a:pPr>
            <a:r>
              <a:t>Expansão condicionada à capacidade de acolhimento, à segurança e à equidade — não ao número de instalações.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Governança intersetorial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A resposta depende da articulação entre educação, saúde, assistência social e comunidade.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240280"/>
            <a:ext cx="3749039" cy="1143000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615184"/>
            <a:ext cx="3182112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ESTUDANTE E CUIDADO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246120" cy="138988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73152" cy="1389888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81912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684197"/>
                </a:solidFill>
                <a:latin typeface="Aptos"/>
              </a:defRPr>
            </a:pPr>
            <a:r>
              <a:t>SECRETARIAS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20824"/>
            <a:ext cx="286207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diretrizes, recursos e prestação de contas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38988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73152" cy="1389888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581912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EQUIPE ESPECIALIZADA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0824"/>
            <a:ext cx="286207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revisão, acolhimento e encaminhamento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41648"/>
            <a:ext cx="3246120" cy="138988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041648"/>
            <a:ext cx="73152" cy="1389888"/>
          </a:xfrm>
          <a:prstGeom prst="roundRect">
            <a:avLst>
              <a:gd name="adj" fmla="val 12000"/>
            </a:avLst>
          </a:prstGeom>
          <a:solidFill>
            <a:srgbClr val="107E89"/>
          </a:solidFill>
          <a:ln>
            <a:solidFill>
              <a:srgbClr val="1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0624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07E89"/>
                </a:solidFill>
                <a:latin typeface="Aptos"/>
              </a:defRPr>
            </a:pPr>
            <a:r>
              <a:t>ESCOLA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645152"/>
            <a:ext cx="286207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rotina, proteção local e canal humano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041648"/>
            <a:ext cx="3246120" cy="1389888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79" y="4041648"/>
            <a:ext cx="73152" cy="1389888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20624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FAMÍLIAS E CONSELHOS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645152"/>
            <a:ext cx="286207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legitimidade, participação e controle social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2029968"/>
            <a:ext cx="438912" cy="429768"/>
          </a:xfrm>
          <a:prstGeom prst="line">
            <a:avLst/>
          </a:prstGeom>
          <a:ln w="25400">
            <a:solidFill>
              <a:srgbClr val="6841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808975" y="2029968"/>
            <a:ext cx="420625" cy="429768"/>
          </a:xfrm>
          <a:prstGeom prst="line">
            <a:avLst/>
          </a:prstGeom>
          <a:ln w="25400">
            <a:solidFill>
              <a:srgbClr val="15A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31920" y="3182112"/>
            <a:ext cx="438912" cy="1408176"/>
          </a:xfrm>
          <a:prstGeom prst="line">
            <a:avLst/>
          </a:prstGeom>
          <a:ln w="25400">
            <a:solidFill>
              <a:srgbClr val="107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808975" y="3182112"/>
            <a:ext cx="420625" cy="1408176"/>
          </a:xfrm>
          <a:prstGeom prst="line">
            <a:avLst/>
          </a:prstGeom>
          <a:ln w="25400">
            <a:solidFill>
              <a:srgbClr val="E884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17320" y="5916168"/>
            <a:ext cx="93726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3D205B"/>
                </a:solidFill>
                <a:latin typeface="Aptos"/>
              </a:defRPr>
            </a:pPr>
            <a:r>
              <a:t>Parceiros técnicos e universidades: desenvolver, formar, validar e auditar sob governança pública.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Riscos principais e barreiras de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O piloto pode ser reduzido ou suspenso quando a proteção não estiver assegurada.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81912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3D205B"/>
                </a:solidFill>
                <a:latin typeface="Aptos"/>
              </a:defRPr>
            </a:pPr>
            <a:r>
              <a:t>VAZAMENTO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minimização, criptografia, acesso e plano de incidentes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684197"/>
          </a:solidFill>
          <a:ln>
            <a:solidFill>
              <a:srgbClr val="684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581912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684197"/>
                </a:solidFill>
                <a:latin typeface="Aptos"/>
              </a:defRPr>
            </a:pPr>
            <a:r>
              <a:t>ERROS DO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020824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canal humano, revisão, calibração e contestação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581912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VIÉS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020824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auditoria por grupo e suspensão diante de disparidades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47872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47872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107E89"/>
          </a:solidFill>
          <a:ln>
            <a:solidFill>
              <a:srgbClr val="1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12463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07E89"/>
                </a:solidFill>
                <a:latin typeface="Aptos"/>
              </a:defRPr>
            </a:pPr>
            <a:r>
              <a:t>REDE INSUFICIENTE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151376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mapear capacidade antes de oferecer triagem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47872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3547872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712463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SOBRECARGA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151376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dimensionar demanda e reorganizar tarefas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547872"/>
            <a:ext cx="3493008" cy="1719072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3547872"/>
            <a:ext cx="73152" cy="1719072"/>
          </a:xfrm>
          <a:prstGeom prst="roundRect">
            <a:avLst>
              <a:gd name="adj" fmla="val 12000"/>
            </a:avLst>
          </a:prstGeom>
          <a:solidFill>
            <a:srgbClr val="BE4146"/>
          </a:solidFill>
          <a:ln>
            <a:solidFill>
              <a:srgbClr val="BE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3712463"/>
            <a:ext cx="31272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BE4146"/>
                </a:solidFill>
                <a:latin typeface="Aptos"/>
              </a:defRPr>
            </a:pPr>
            <a:r>
              <a:t>USO PUNITIVO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151376"/>
            <a:ext cx="3108960" cy="9692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A2A34"/>
                </a:solidFill>
                <a:latin typeface="Aptos"/>
              </a:defRPr>
            </a:pPr>
            <a:r>
              <a:t>proibição normativa, segregação e auditoria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0432" y="5733288"/>
            <a:ext cx="9857232" cy="530352"/>
          </a:xfrm>
          <a:prstGeom prst="roundRect">
            <a:avLst>
              <a:gd name="adj" fmla="val 12000"/>
            </a:avLst>
          </a:prstGeom>
          <a:solidFill>
            <a:srgbClr val="FAEFEF"/>
          </a:solidFill>
          <a:ln>
            <a:solidFill>
              <a:srgbClr val="BE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52" y="5870448"/>
            <a:ext cx="930859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BE4146"/>
                </a:solidFill>
                <a:latin typeface="Aptos"/>
              </a:defRPr>
            </a:pPr>
            <a:r>
              <a:t>Regra de ouro: nenhuma classificação pode negar acolhimento a quem pede ajuda.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Como saberemos se funciona?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Avaliar o serviço de cuidado — não apenas a precisão do aplicativo.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2057400" cy="493776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08760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DIMENSÃO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371600"/>
            <a:ext cx="3703320" cy="493776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5496" y="1508760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INDICADOR-CHAVE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1371600"/>
            <a:ext cx="4709160" cy="493776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08760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PERGUNTA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892807"/>
            <a:ext cx="20574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39112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A2A34"/>
                </a:solidFill>
                <a:latin typeface="Aptos"/>
              </a:defRPr>
            </a:pPr>
            <a:r>
              <a:t>Resposta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15768" y="1892807"/>
            <a:ext cx="3703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5496" y="2039112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tempo até a primeira escuta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1892807"/>
            <a:ext cx="47091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039112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a rede acolhe em prazo útil?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87168"/>
            <a:ext cx="205740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633472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Bem-estar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8" y="2487168"/>
            <a:ext cx="370332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5496" y="2633472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mudança nos escores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2487168"/>
            <a:ext cx="470916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633472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há melhora consistente no tempo?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081528"/>
            <a:ext cx="20574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227832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Equidade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5768" y="3081528"/>
            <a:ext cx="3703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5496" y="3227832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diferenças de acesso e erro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3081528"/>
            <a:ext cx="47091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227832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algum grupo é prejudicado?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675887"/>
            <a:ext cx="205740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822191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Proteção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15768" y="3675887"/>
            <a:ext cx="370332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5496" y="3822191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incidentes e acessos indevidos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3675887"/>
            <a:ext cx="470916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3822191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os dados permanecem seguros?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70248"/>
            <a:ext cx="20574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416552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Experiência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15768" y="4270248"/>
            <a:ext cx="3703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5496" y="4416552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confiança, estigma e utilidade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4270248"/>
            <a:ext cx="47091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416552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a comunidade legitima o processo?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64608"/>
            <a:ext cx="205740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010912"/>
            <a:ext cx="183794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Trabalho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15768" y="4864608"/>
            <a:ext cx="370332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25496" y="5010912"/>
            <a:ext cx="3483863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tempo adicional e sobrecarga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864608"/>
            <a:ext cx="4709160" cy="576072"/>
          </a:xfrm>
          <a:prstGeom prst="rect">
            <a:avLst/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5010912"/>
            <a:ext cx="448970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A2A34"/>
                </a:solidFill>
                <a:latin typeface="Aptos"/>
              </a:defRPr>
            </a:pPr>
            <a:r>
              <a:t>a rotina é sustentável?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769864"/>
            <a:ext cx="101498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E88443"/>
                </a:solidFill>
                <a:latin typeface="Aptos"/>
              </a:defRPr>
            </a:pPr>
            <a:r>
              <a:t>Meta de 15% de redução dos escores = hipótese de avaliação, não promessa de impacto.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50292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5ADB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5760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D205B"/>
                </a:solidFill>
                <a:latin typeface="Aptos"/>
              </a:defRPr>
            </a:pPr>
            <a:r>
              <a:t>Contribuição, limites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86968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F5F6E"/>
                </a:solidFill>
                <a:latin typeface="Aptos"/>
              </a:defRPr>
            </a:pPr>
            <a:r>
              <a:t>Transformação digital com valor público exige capacidade institucional.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3474720" cy="434340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89888"/>
            <a:ext cx="73152" cy="4343400"/>
          </a:xfrm>
          <a:prstGeom prst="roundRect">
            <a:avLst>
              <a:gd name="adj" fmla="val 12000"/>
            </a:avLst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3D205B"/>
                </a:solidFill>
                <a:latin typeface="Aptos"/>
              </a:defRPr>
            </a:pPr>
            <a:r>
              <a:t>CONTRIBUIÇÃO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3090672" cy="3593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Transforma uma recomendação técnica em política implementável: produto, fluxo, atores, indicadores, riscos e cronograma.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89888"/>
            <a:ext cx="3474720" cy="434340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1389888"/>
            <a:ext cx="73152" cy="4343400"/>
          </a:xfrm>
          <a:prstGeom prst="roundRect">
            <a:avLst>
              <a:gd name="adj" fmla="val 12000"/>
            </a:avLst>
          </a:prstGeom>
          <a:solidFill>
            <a:srgbClr val="E88443"/>
          </a:solidFill>
          <a:ln>
            <a:solidFill>
              <a:srgbClr val="E88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88443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090672" cy="3593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Sem validação do piloto não há eficácia demonstrada. IA não corrige escassez de profissionais e pode reproduzir vieses.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389888"/>
            <a:ext cx="3474720" cy="4343400"/>
          </a:xfrm>
          <a:prstGeom prst="roundRect">
            <a:avLst>
              <a:gd name="adj" fmla="val 12000"/>
            </a:avLst>
          </a:prstGeom>
          <a:solidFill>
            <a:srgbClr val="F6F4F9"/>
          </a:solidFill>
          <a:ln>
            <a:solidFill>
              <a:srgbClr val="E0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389888"/>
            <a:ext cx="73152" cy="4343400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5448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ADBA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93392"/>
            <a:ext cx="3090672" cy="3593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2A2A34"/>
                </a:solidFill>
                <a:latin typeface="Aptos"/>
              </a:defRPr>
            </a:pPr>
            <a:r>
              <a:t>Pactuar a rede, concluir o RIPD, cocriar o protótipo, testar acessibilidade e operar primeiro em modo silencioso.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6016752"/>
            <a:ext cx="98023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3D205B"/>
                </a:solidFill>
                <a:latin typeface="Aptos"/>
              </a:defRPr>
            </a:pPr>
            <a:r>
              <a:t>Tecnologia habilitadora, não solução autônoma.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05B"/>
          </a:solidFill>
          <a:ln>
            <a:solidFill>
              <a:srgbClr val="3D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31089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5ADBA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7635240" cy="2148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Cuidado humano</a:t>
            </a:r>
            <a:br/>
            <a:r>
              <a:t>orientado por evidências,</a:t>
            </a:r>
            <a:br/>
            <a:r>
              <a:t>mesmo quando a internet falha.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49624"/>
            <a:ext cx="1234440" cy="82296"/>
          </a:xfrm>
          <a:prstGeom prst="rect">
            <a:avLst/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33087"/>
            <a:ext cx="7726679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0">
                <a:solidFill>
                  <a:srgbClr val="E4DEED"/>
                </a:solidFill>
                <a:latin typeface="Aptos"/>
              </a:defRPr>
            </a:pPr>
            <a:r>
              <a:t>A IA só gera valor público quando permanece subordinada à proteção integral, à decisão humana e à capacidade real da rede.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170432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5ADBA"/>
          </a:solidFill>
          <a:ln>
            <a:solidFill>
              <a:srgbClr val="15A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26464"/>
            <a:ext cx="1965960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005072"/>
            <a:ext cx="30632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Perguntas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81728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DAD2E5"/>
                </a:solidFill>
                <a:latin typeface="Aptos"/>
              </a:defRPr>
            </a:pPr>
            <a: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NEES / UFAL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de Baixo Consumo para o Monitoramento Preventivo do Bem-Estar Estudantil</dc:title>
  <dc:subject>Apresentação de TCC — UFAL</dc:subject>
  <dc:creator>Ivo Calado; Rafael Durelli; Diego Dias</dc:creator>
  <cp:lastModifiedBy>Washington Henrique Carvalho Almeida</cp:lastModifiedBy>
  <cp:revision>2</cp:revision>
  <dcterms:created xsi:type="dcterms:W3CDTF">2026-08-05T10:51:43Z</dcterms:created>
  <dcterms:modified xsi:type="dcterms:W3CDTF">2026-08-05T10:54:20Z</dcterms:modified>
  <cp:keywords>UFAL, bem-estar estudantil, TinyML, offline-first, DASS-21, política pública</cp:keywords>
</cp:coreProperties>
</file>